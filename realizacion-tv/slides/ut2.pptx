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FF4D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FF4D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FF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FF4D4D"/>
            </a:solidFill>
            <a:prstDash val="solid"/>
          </a:ln>
        </p:spPr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FF4D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FF4D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FF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FF4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94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PRTV · Andrés Vidal Martín Martín</a:t>
            </a:r>
            <a:endParaRPr lang="en-US" sz="80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PRTV · UNIDAD 2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EMISIÓN DE PIEZAS DE VÍDEO Y FUENTES EN INFORMATIVOS</a:t>
            </a:r>
            <a:endParaRPr lang="en-US" sz="34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género informativo al control de realización: formatos, grafismo, grabación, producción y emisión del telediario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EL GÉNERO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ES UN INFORMATIVO?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que dan noticias de actualidad (política, sociedad, deporte…) con una versión lo más fiel posible de la realidad. Suelen ser la seña de identidad de la cadena.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548640" y="2410968"/>
            <a:ext cx="8046720" cy="155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Mantienen audiencias comparables a la ficción gracias a la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opinión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(expertos que explican los hechos) y a la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de géneros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entretenimiento.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les exige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verosimilitud, veracidad y autenticidad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por eso se apoyan en el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en el testimonio del protagonista.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EL GÉNERO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EVOLUCIÓN</a:t>
            </a:r>
            <a:endParaRPr lang="en-US" sz="2600" dirty="0"/>
          </a:p>
        </p:txBody>
      </p:sp>
      <p:graphicFrame>
        <p:nvGraphicFramePr>
          <p:cNvPr id="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FF4D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AÑO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FF4D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HITO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1948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boletín televisivo con ilustraciones: hasta entonces las noticias se leían como en la radio.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1953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generalizan las imágenes filmadas, con sonido directo o con </a:t>
                      </a:r>
                      <a:r>
                        <a:rPr lang="en-US" sz="1300" b="1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colas</a:t>
                      </a: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locutadas.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1963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TVE fija el noticiario de 30 minutos.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Años 70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Magacines de actualidad, avances, sumarios y flases.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1975–80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equipos ligeros, imagen inmediata y conexión en directo con la emisora.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1985–90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Postproducción, infografía, satélite y cadenas privadas: el informativo se espectaculariza.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CLASIFICACIÓN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 DE PROGRAMA INFORMATIVO</a:t>
            </a:r>
            <a:endParaRPr lang="en-US" sz="2600" dirty="0"/>
          </a:p>
        </p:txBody>
      </p:sp>
      <p:sp>
        <p:nvSpPr>
          <p:cNvPr id="4" name="Bloque"/>
          <p:cNvSpPr/>
          <p:nvPr/>
        </p:nvSpPr>
        <p:spPr>
          <a:xfrm>
            <a:off x="548640" y="1417320"/>
            <a:ext cx="3886200" cy="252984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PERIODICIDAD</a:t>
            </a:r>
            <a:endParaRPr lang="en-US" sz="1100" dirty="0"/>
          </a:p>
        </p:txBody>
      </p:sp>
      <p:sp>
        <p:nvSpPr>
          <p:cNvPr id="6" name="Lista"/>
          <p:cNvSpPr txBox="1"/>
          <p:nvPr/>
        </p:nvSpPr>
        <p:spPr>
          <a:xfrm>
            <a:off x="777240" y="1965960"/>
            <a:ext cx="3429000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Diarios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piezas de 1–2 min por secciones.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diarios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más profundidad y opinión.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hechos imprevistos o excepcionales.</a:t>
            </a:r>
            <a:endParaRPr lang="en-US" sz="1500" dirty="0"/>
          </a:p>
        </p:txBody>
      </p:sp>
      <p:sp>
        <p:nvSpPr>
          <p:cNvPr id="7" name="Bloque"/>
          <p:cNvSpPr/>
          <p:nvPr/>
        </p:nvSpPr>
        <p:spPr>
          <a:xfrm>
            <a:off x="4709160" y="1417320"/>
            <a:ext cx="3886200" cy="252984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PRODUCCIÓN</a:t>
            </a:r>
            <a:endParaRPr lang="en-US" sz="1100" dirty="0"/>
          </a:p>
        </p:txBody>
      </p:sp>
      <p:sp>
        <p:nvSpPr>
          <p:cNvPr id="9" name="Lista"/>
          <p:cNvSpPr txBox="1"/>
          <p:nvPr/>
        </p:nvSpPr>
        <p:spPr>
          <a:xfrm>
            <a:off x="4937760" y="1965960"/>
            <a:ext cx="3429000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en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en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diferido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(pregrabado).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Exteriores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plano secuencia, unidad móvil o monocámara.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6544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11" name="Nota"/>
          <p:cNvSpPr txBox="1"/>
          <p:nvPr/>
        </p:nvSpPr>
        <p:spPr>
          <a:xfrm>
            <a:off x="548640" y="4038600"/>
            <a:ext cx="804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clasifican por contenido (boletín, meteorología, debate…), por formato (pieza, entrevista, encuesta…) y por lugar (estudio, exterior o mixto).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PRODUCCIÓN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MEDIOS TÉCNICOS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3840480" cy="216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control con autocue, mezclador con muchas fuentes, 2–3 cámaras y videowall.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/ SNG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reporterismo con enlaces de satélite transportables.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unidades móviles ligeras, hasta tres cámaras.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4754880" y="1417320"/>
            <a:ext cx="3840480" cy="216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salas con tituladores, efectos y locutorio.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Postproducción y grafismo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cabeceras, cortinillas, chroma y animaciones.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imágenes de contexto cuando no hay material actual.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GRABACIÓN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DE GRABAR, EVALÚA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historia y personajes condicionan escenario, hora y ambiente.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destino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impone un estilo.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para una pieza de 1'30", al menos 3–4 minutos solo de recursos.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encuadre, luz, movimientos y tipo de micrófono.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del relato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una lista de secuencias simplifica la edición.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6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monocámara con plano máster y planos recurso,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con sonido ambiente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FORMATOS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FORMATOS DE LA INFORMACIÓN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3840480" cy="230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Noticiarios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sumarios, avances, boletines y flases.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perfiles.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Reportaje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 actualidad, gran reportaje, de investigación.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Revista de actualidad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Magacine de actualidad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4754880" y="1417320"/>
            <a:ext cx="3840480" cy="230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Debate, coloquio y tertulia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parlamentaria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Informativos especiales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Docudrama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reality.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TELEDIARIO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 DEL INFORMATIVO DIARIO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3840480" cy="24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imagen y sintonía de la temporada.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presentador, en plano medio.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Sumario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titulares que atraen la atención.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 de portada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más importante.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4754880" y="1417320"/>
            <a:ext cx="3840480" cy="24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5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temáticos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 orden ondulante, no jerárquico.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 final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impactante o amable.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Despedida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emplazamiento.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de salida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TELEDIARIO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DE LOCUTOR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cada pieza y debe entenderse sin imágenes: equivale a la entradilla de una noticia escrita.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548640" y="2146808"/>
            <a:ext cx="8046720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qué, quién, dónde, cuándo, por qué y cómo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para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leerse en voz alta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frases cortas y lenguaje directo.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repite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palabras del vídeo al que da paso.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pieza, a su vez, debe entenderse sin el paso.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TELEDIARIO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COLAS Y TOTALES</a:t>
            </a:r>
            <a:endParaRPr lang="en-US" sz="2600" dirty="0"/>
          </a:p>
        </p:txBody>
      </p:sp>
      <p:sp>
        <p:nvSpPr>
          <p:cNvPr id="4" name="Dato"/>
          <p:cNvSpPr/>
          <p:nvPr/>
        </p:nvSpPr>
        <p:spPr>
          <a:xfrm>
            <a:off x="54864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50 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MONTAJE MÍNIMO DE UNAS COLAS</a:t>
            </a:r>
            <a:endParaRPr lang="en-US" sz="1100" dirty="0"/>
          </a:p>
        </p:txBody>
      </p:sp>
      <p:sp>
        <p:nvSpPr>
          <p:cNvPr id="7" name="Dato"/>
          <p:cNvSpPr/>
          <p:nvPr/>
        </p:nvSpPr>
        <p:spPr>
          <a:xfrm>
            <a:off x="335280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140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10–20 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814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DURACIÓN DE UN TOTAL</a:t>
            </a:r>
            <a:endParaRPr lang="en-US" sz="1100" dirty="0"/>
          </a:p>
        </p:txBody>
      </p:sp>
      <p:sp>
        <p:nvSpPr>
          <p:cNvPr id="10" name="Dato"/>
          <p:cNvSpPr/>
          <p:nvPr/>
        </p:nvSpPr>
        <p:spPr>
          <a:xfrm>
            <a:off x="615696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556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2–5 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8556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DURACIÓN DE CADA PLANO</a:t>
            </a:r>
            <a:endParaRPr lang="en-US" sz="1100" dirty="0"/>
          </a:p>
        </p:txBody>
      </p:sp>
      <p:sp>
        <p:nvSpPr>
          <p:cNvPr id="13" name="Lista"/>
          <p:cNvSpPr txBox="1"/>
          <p:nvPr/>
        </p:nvSpPr>
        <p:spPr>
          <a:xfrm>
            <a:off x="548640" y="3246120"/>
            <a:ext cx="8046720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imágenes montadas sobre la voz del presentador, con ambiente en el canal 2.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declaraciones breves y relevantes;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preguntas nunca aparecen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montaje.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TELEDIARIO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 A CÁMARA Y PIEZA</a:t>
            </a:r>
            <a:endParaRPr lang="en-US" sz="2600" dirty="0"/>
          </a:p>
        </p:txBody>
      </p:sp>
      <p:sp>
        <p:nvSpPr>
          <p:cNvPr id="4" name="Bloque"/>
          <p:cNvSpPr/>
          <p:nvPr/>
        </p:nvSpPr>
        <p:spPr>
          <a:xfrm>
            <a:off x="54864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ENTRADILLA O DIRECTO A CÁMARA</a:t>
            </a:r>
            <a:endParaRPr lang="en-US" sz="1100" dirty="0"/>
          </a:p>
        </p:txBody>
      </p:sp>
      <p:sp>
        <p:nvSpPr>
          <p:cNvPr id="6" name="Lista"/>
          <p:cNvSpPr txBox="1"/>
          <p:nvPr/>
        </p:nvSpPr>
        <p:spPr>
          <a:xfrm>
            <a:off x="77724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medio ante un fondo que ocupe al menos el 50 %.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Fijo,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15 s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con un movimiento con principio y final.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cuando el redactor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noticia.</a:t>
            </a:r>
            <a:endParaRPr lang="en-US" sz="1500" dirty="0"/>
          </a:p>
        </p:txBody>
      </p:sp>
      <p:sp>
        <p:nvSpPr>
          <p:cNvPr id="7" name="Bloque"/>
          <p:cNvSpPr/>
          <p:nvPr/>
        </p:nvSpPr>
        <p:spPr>
          <a:xfrm>
            <a:off x="470916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PIEZA O NOTICIA</a:t>
            </a:r>
            <a:endParaRPr lang="en-US" sz="1100" dirty="0"/>
          </a:p>
        </p:txBody>
      </p:sp>
      <p:sp>
        <p:nvSpPr>
          <p:cNvPr id="9" name="Lista"/>
          <p:cNvSpPr txBox="1"/>
          <p:nvPr/>
        </p:nvSpPr>
        <p:spPr>
          <a:xfrm>
            <a:off x="493776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básico del informativo diario.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Off, recursos con ambiente, totales, entradilla y gráficos.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combina en fórmulas: entradilla + VTR, DTO + colas + total…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GRAFISMO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GRAFISMO EN PANTALLA</a:t>
            </a:r>
            <a:endParaRPr lang="en-US" sz="2600" dirty="0"/>
          </a:p>
        </p:txBody>
      </p:sp>
      <p:graphicFrame>
        <p:nvGraphicFramePr>
          <p:cNvPr id="13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FF4D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ELEMENTO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FF4D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PARA QUÉ SIRVE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Rótulo de total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 a quien habla, con la función que tiene en la noticia.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Localizador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Lugar y fecha; incluye el indicador de DIRECTO.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Identificativo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del programa, como la mosca de la cadena.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 o scroll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horizontal en la parte inferior.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Ventana (PiP)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Presentador y corresponsal a la vez: dúplex, tríplex.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6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piezas se editan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rótulos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 insertan en directo desde el control.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GRABACIÓN Y EDICIÓN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GRABAR UNA NOTICIA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3840480" cy="24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Prevé la estructura para saber qué planos grabar.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 planos buenos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minuto de pieza.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en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trípode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frontal y a la altura de la mirada.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tipo de planos: generales, cortos y detalles.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4754880" y="1417320"/>
            <a:ext cx="3840480" cy="24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Paneos: fijo 3–5 s, movimiento, fijo 3–5 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 de cola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parar cada plano.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1: totales, entradilla y off. Canal 2: ambiente.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imagen y sonido antes de irte.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GRABACIÓN Y EDICIÓN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EDICIÓN PASO A PASO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211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Visionar, anotar códigos de tiempo y escribir el texto.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imagen y ambiente antes del sonido principal.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el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en el canal 1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insertar entradillas y totales.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Tapar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off con recursos: 2–5 s por plano.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en el canal 2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por debajo del canal 1.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plano largo: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2–3 s. Si no lo hay, es un «capón».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REPORTAJE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REPORTAJE EN EL INFORMATIVO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 una historia con presentación, nudo y desenlace. En un informativo diario dura unos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548640" y="2146808"/>
            <a:ext cx="8046720" cy="223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de actualidad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urgencia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historias antiguas con novedades o efemérides.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cronológico, con testigos y expertos o enfrentando a las partes.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párrafo es clave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 la historia va de un personaje, empieza por él.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opiniones subjetivas: lo que ha visto, lo que sabe y lo que le han dicho.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PRODUCCIÓN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CONSEJO DE REDACCIÓN A LA EMISIÓN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3840480" cy="223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 de redacción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temas y escaleta.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de temas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equipos ENG.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y edición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piezas, colas y totales.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parte de emisión.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4754880" y="1417320"/>
            <a:ext cx="3840480" cy="223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5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previos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rótulos, maquillaje y pruebas.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en directo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cuenta atrás y tiempos cantados.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control vuelve a continuidad.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PRODUCCIÓN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ESCALETA Y PARTE DE EMISIÓN</a:t>
            </a:r>
            <a:endParaRPr lang="en-US" sz="2600" dirty="0"/>
          </a:p>
        </p:txBody>
      </p:sp>
      <p:sp>
        <p:nvSpPr>
          <p:cNvPr id="4" name="Bloque"/>
          <p:cNvSpPr/>
          <p:nvPr/>
        </p:nvSpPr>
        <p:spPr>
          <a:xfrm>
            <a:off x="54864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ESCALETA</a:t>
            </a:r>
            <a:endParaRPr lang="en-US" sz="1100" dirty="0"/>
          </a:p>
        </p:txBody>
      </p:sp>
      <p:sp>
        <p:nvSpPr>
          <p:cNvPr id="6" name="Lista"/>
          <p:cNvSpPr txBox="1"/>
          <p:nvPr/>
        </p:nvSpPr>
        <p:spPr>
          <a:xfrm>
            <a:off x="77724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primario de trabajo: orden y estructura.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 30 noticias numeradas de 10 en 10, con huecos para imprevistos.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 trabaja con la versión actualizada.</a:t>
            </a:r>
            <a:endParaRPr lang="en-US" sz="1500" dirty="0"/>
          </a:p>
        </p:txBody>
      </p:sp>
      <p:sp>
        <p:nvSpPr>
          <p:cNvPr id="7" name="Bloque"/>
          <p:cNvSpPr/>
          <p:nvPr/>
        </p:nvSpPr>
        <p:spPr>
          <a:xfrm>
            <a:off x="470916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DE EMISIÓN</a:t>
            </a:r>
            <a:endParaRPr lang="en-US" sz="1100" dirty="0"/>
          </a:p>
        </p:txBody>
      </p:sp>
      <p:sp>
        <p:nvSpPr>
          <p:cNvPr id="9" name="Lista"/>
          <p:cNvSpPr txBox="1"/>
          <p:nvPr/>
        </p:nvSpPr>
        <p:spPr>
          <a:xfrm>
            <a:off x="493776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y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las últimas palabras.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códigos de tiempo.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Coleo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momento de cada rótulo.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EQUIPO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ORGANIGRAMA DE UN INFORMATIVO</a:t>
            </a:r>
            <a:endParaRPr lang="en-US" sz="2600" dirty="0"/>
          </a:p>
        </p:txBody>
      </p:sp>
      <p:graphicFrame>
        <p:nvGraphicFramePr>
          <p:cNvPr id="1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FF4D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PERFIL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FF4D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FUNCIÓN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4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Director/a de informativos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de todos los informativos de la cadena.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Editor/a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el contenido de cada informativo.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Redactores y reporteros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Cubren cada noticia y responden de ella.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Realizador/a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de la emisión en directo.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Ayudantes de realización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Cantan tiempos, ponen rótulos y preparan partes.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Ayudantes de producción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Consiguen los medios para cubrir las noticias.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PRTV · UT2 · Emisión de piezas de vídeo y fuentes en informativos</dc:title>
  <dc:subject>PptxGenJS Presentation</dc:subject>
  <dc:creator>Andrés Vidal Martín Martín</dc:creator>
  <cp:lastModifiedBy>Andrés Vidal Martín Martín</cp:lastModifiedBy>
  <cp:revision>1</cp:revision>
  <dcterms:created xsi:type="dcterms:W3CDTF">2026-10-24T10:06:34Z</dcterms:created>
  <dcterms:modified xsi:type="dcterms:W3CDTF">2026-10-24T10:06:34Z</dcterms:modified>
</cp:coreProperties>
</file>