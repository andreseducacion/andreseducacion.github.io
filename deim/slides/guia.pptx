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2AF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94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DEIM · Andrés Vidal Martín Martín</a:t>
            </a:r>
            <a:endParaRPr lang="en-US" sz="80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DEIM · GUÍA DEL MÓDULO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DESARROLLO DE ENTORNOS INTERACTIVOS MULTIDISPOSITIVO</a:t>
            </a:r>
            <a:endParaRPr lang="en-US" sz="34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CFGS Animaciones 3D, Juegos y Entornos Interactivos · Profesor: Andrés Vidal Martín Martín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QUÉ VAMOS A VER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CONTENIDOS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de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multimedia interactivos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para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dispositivos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web, móvil, apps y videojuegos.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Narrativa, estética y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usuario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(UX).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fases reales de un proyecto: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prototipo → test → publicación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ORGANIZACIÓN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 LECTIVA</a:t>
            </a:r>
            <a:endParaRPr lang="en-US" sz="2600" dirty="0"/>
          </a:p>
        </p:txBody>
      </p:sp>
      <p:sp>
        <p:nvSpPr>
          <p:cNvPr id="4" name="Dato"/>
          <p:cNvSpPr/>
          <p:nvPr/>
        </p:nvSpPr>
        <p:spPr>
          <a:xfrm>
            <a:off x="54864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165 h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TOTAL</a:t>
            </a:r>
            <a:endParaRPr lang="en-US" sz="1100" dirty="0"/>
          </a:p>
        </p:txBody>
      </p:sp>
      <p:sp>
        <p:nvSpPr>
          <p:cNvPr id="7" name="Dato"/>
          <p:cNvSpPr/>
          <p:nvPr/>
        </p:nvSpPr>
        <p:spPr>
          <a:xfrm>
            <a:off x="335280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140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814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TRIMESTRES</a:t>
            </a:r>
            <a:endParaRPr lang="en-US" sz="1100" dirty="0"/>
          </a:p>
        </p:txBody>
      </p:sp>
      <p:sp>
        <p:nvSpPr>
          <p:cNvPr id="10" name="Dato"/>
          <p:cNvSpPr/>
          <p:nvPr/>
        </p:nvSpPr>
        <p:spPr>
          <a:xfrm>
            <a:off x="615696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556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h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8556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SEMANA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14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semana: dos sesiones de 2 horas y una sesión de 3 horas.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MARCO LEGAL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NORMATIVA QUE REGULA EL MÓDULO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10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1583/2011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título y enseñanzas mínimas del CFGS.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54/2013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plan de estudios.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FP 2025–2026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organización de los grados D y 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PARA QUÉ SIRVE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OBJETIVOS DEL MÓDULO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3840480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y adaptar recursos multimedia para proyectos interactivos.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proyectos multidispositivo con criterios técnicos y profesionales.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gráficos, animación, audio e interactividad de forma coherente.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prototipos con normas de calidad y accesibilidad.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Mantenerse al día en tecnología.</a:t>
            </a:r>
            <a:endParaRPr lang="en-US" sz="1400" dirty="0"/>
          </a:p>
        </p:txBody>
      </p:sp>
      <p:sp>
        <p:nvSpPr>
          <p:cNvPr id="5" name="Lista"/>
          <p:cNvSpPr txBox="1"/>
          <p:nvPr/>
        </p:nvSpPr>
        <p:spPr>
          <a:xfrm>
            <a:off x="4754880" y="1417320"/>
            <a:ext cx="3840480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creatividad, iniciativa e innovación.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decisiones fundamentadas en proyectos reales.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y comunicarse eficazmente en equipo.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medidas de seguridad, ergonomía y sostenibilidad.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QUÉ SABRÁS HACER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COMPETENCIAS</a:t>
            </a:r>
            <a:endParaRPr lang="en-US" sz="2600" dirty="0"/>
          </a:p>
        </p:txBody>
      </p:sp>
      <p:sp>
        <p:nvSpPr>
          <p:cNvPr id="4" name="Bloque"/>
          <p:cNvSpPr/>
          <p:nvPr/>
        </p:nvSpPr>
        <p:spPr>
          <a:xfrm>
            <a:off x="54864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PROFESIONALES</a:t>
            </a:r>
            <a:endParaRPr lang="en-US" sz="1100" dirty="0"/>
          </a:p>
        </p:txBody>
      </p:sp>
      <p:sp>
        <p:nvSpPr>
          <p:cNvPr id="6" name="Lista"/>
          <p:cNvSpPr txBox="1"/>
          <p:nvPr/>
        </p:nvSpPr>
        <p:spPr>
          <a:xfrm>
            <a:off x="77724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modelos, texturas y recursos para cada proyecto.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arquitectura, fases y necesidades técnicas.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animación, gráficos, sonido e interacción.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calidad, rendimiento y publicación.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con accesibilidad universal.</a:t>
            </a:r>
            <a:endParaRPr lang="en-US" sz="1400" dirty="0"/>
          </a:p>
        </p:txBody>
      </p:sp>
      <p:sp>
        <p:nvSpPr>
          <p:cNvPr id="7" name="Bloque"/>
          <p:cNvSpPr/>
          <p:nvPr/>
        </p:nvSpPr>
        <p:spPr>
          <a:xfrm>
            <a:off x="470916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PERSONALES Y SOCIALES</a:t>
            </a:r>
            <a:endParaRPr lang="en-US" sz="1100" dirty="0"/>
          </a:p>
        </p:txBody>
      </p:sp>
      <p:sp>
        <p:nvSpPr>
          <p:cNvPr id="9" name="Lista"/>
          <p:cNvSpPr txBox="1"/>
          <p:nvPr/>
        </p:nvSpPr>
        <p:spPr>
          <a:xfrm>
            <a:off x="493776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de forma continua.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asumiendo riesgos razonados.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Potenciar la creatividad.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Liderar y comunicar en grupo.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riesgos y actuar con sostenibilidad.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EVALUACIÓN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RESULTADOS DE APRENDIZAJE</a:t>
            </a:r>
            <a:endParaRPr lang="en-US" sz="2600" dirty="0"/>
          </a:p>
        </p:txBody>
      </p:sp>
      <p:graphicFrame>
        <p:nvGraphicFramePr>
          <p:cNvPr id="8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F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QUÉ DEMUESTRAS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F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PESO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F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RA1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Generas aplicaciones multimedia interactivas hasta su compilación final.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RA2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Implementas proyectos multidispositivo según las especificaciones de cada dispositivo.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RA3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Desarrollas aplicaciones interactivas con elementos 3D y varios usuarios a la vez.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RA4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Comunicas el proyecto con dispositivos físicos externos como fuente de datos.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RA5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y verificas las aplicaciones con diseño para todos y en varias plataformas.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RA1 · 25 %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GENERAR LA APLICACIÓN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3840480" cy="189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las necesidades del proyecto.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herramientas y lenguajes.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estructura general.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recursos y fuentes.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4754880" y="1417320"/>
            <a:ext cx="3840480" cy="189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imágenes, sonido e interacción.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o compilar la aplicación final.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proceso y justificar decisiones.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7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proyecto no está documentado, no exporta o no funciona,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superas el RA1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 · 25 %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VARIOS DISPOSITIVOS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237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las características técnicas de cada dispositivo (PC, móvil, tablet…).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la interfaz a distintas resoluciones y formatos.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recursos para evitar errores de compatibilidad.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 publicación en cada plataforma.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el funcionamiento real en cada dispositivo.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accesibilidad y usabilidad.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6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al menos un proyecto documentado en una plataforma distinta de PC para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el RA2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RA3 · 20 %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INTERACTIVIDAD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acciones del usuario.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eventos: clic, teclado, movimiento…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interactividad a elementos animados o 3D.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las interacciones en tiempo real.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6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interactividad real o no se puede usar,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superas el RA3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RA4 · 20 %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DISPOSITIVOS EXTERNOS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dispositivos externos: sensores, controladores…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 comunicación: entradas, salidas y protocolos.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en la aplicación los datos recibidos.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que la comunicación es estable y sincronizada.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proceso y las pruebas.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6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proyecto no recibe datos reales o simulados de un dispositivo,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superas el RA4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RA5 · 10 %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PRUEBAS Y CALIDAD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escenarios de prueba.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controles de calidad.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corregir errores.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accesibilidad y diseño inclusivo.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todo el proceso de pruebas.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6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pruebas documentadas, o con fallos críticos sin corregir,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superas el RA5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LO IMPRESCINDIBLE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MÍNIMOS PARA APROBAR</a:t>
            </a:r>
            <a:endParaRPr lang="en-US" sz="2600" dirty="0"/>
          </a:p>
        </p:txBody>
      </p:sp>
      <p:sp>
        <p:nvSpPr>
          <p:cNvPr id="4" name="Entradilla"/>
          <p:cNvSpPr txBox="1"/>
          <p:nvPr/>
        </p:nvSpPr>
        <p:spPr>
          <a:xfrm>
            <a:off x="548640" y="1417320"/>
            <a:ext cx="80467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proyecto: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548640" y="1882648"/>
            <a:ext cx="80467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adapta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varios dispositivos.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interactividad real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externo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(real o simulado).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sido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y corregido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ASISTENCIA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PÉRDIDA DE LA EVALUACIÓN CONTINUA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76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el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 de faltas injustificadas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total del ciclo.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Faltar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días seguidos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justificar.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CÓMO SE EVALÚA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INSTRUMENTOS DE EVALUACIÓN</a:t>
            </a:r>
            <a:endParaRPr lang="en-US" sz="2600" dirty="0"/>
          </a:p>
        </p:txBody>
      </p:sp>
      <p:graphicFrame>
        <p:nvGraphicFramePr>
          <p:cNvPr id="1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INSTRUMENTO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F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2AFF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CONDICIÓN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AF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Exámenes teórico-prácticos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5/10. Una nota inferior a 5 no se redondea.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Prácticas y ejercicios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5/10 en cada práctica. Fuera de plazo = 0.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Trabajos individuales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se califican si cumplen forma, fecha y medio de entrega.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Trabajos en grupo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evalúa el resultado y el trabajo en equipo.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Puntualidad, participación, interés, respeto y responsabilidad.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 complementarias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Asistencia obligatoria.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NOTA FINAL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CRITERIOS DE CALIFICACIÓN</a:t>
            </a:r>
            <a:endParaRPr lang="en-US" sz="2600" dirty="0"/>
          </a:p>
        </p:txBody>
      </p:sp>
      <p:sp>
        <p:nvSpPr>
          <p:cNvPr id="4" name="Dato"/>
          <p:cNvSpPr/>
          <p:nvPr/>
        </p:nvSpPr>
        <p:spPr>
          <a:xfrm>
            <a:off x="54864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EXÁMENES</a:t>
            </a:r>
            <a:endParaRPr lang="en-US" sz="1100" dirty="0"/>
          </a:p>
        </p:txBody>
      </p:sp>
      <p:sp>
        <p:nvSpPr>
          <p:cNvPr id="7" name="Dato"/>
          <p:cNvSpPr/>
          <p:nvPr/>
        </p:nvSpPr>
        <p:spPr>
          <a:xfrm>
            <a:off x="335280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140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814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TRABAJOS Y PRÁCTICAS</a:t>
            </a:r>
            <a:endParaRPr lang="en-US" sz="1100" dirty="0"/>
          </a:p>
        </p:txBody>
      </p:sp>
      <p:sp>
        <p:nvSpPr>
          <p:cNvPr id="10" name="Dato"/>
          <p:cNvSpPr/>
          <p:nvPr/>
        </p:nvSpPr>
        <p:spPr>
          <a:xfrm>
            <a:off x="615696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556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8556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ACTITUD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14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porcentajes solo se aplican si tienes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 5 en exámenes y un 5 en trabajos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por separado.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SI SUSPENDES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RECUPERACIÓN</a:t>
            </a:r>
            <a:endParaRPr lang="en-US" sz="2600" dirty="0"/>
          </a:p>
        </p:txBody>
      </p:sp>
      <p:sp>
        <p:nvSpPr>
          <p:cNvPr id="4" name="Bloque"/>
          <p:cNvSpPr/>
          <p:nvPr/>
        </p:nvSpPr>
        <p:spPr>
          <a:xfrm>
            <a:off x="54864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EVALUACIÓN ORDINARIA</a:t>
            </a:r>
            <a:endParaRPr lang="en-US" sz="1100" dirty="0"/>
          </a:p>
        </p:txBody>
      </p:sp>
      <p:sp>
        <p:nvSpPr>
          <p:cNvPr id="6" name="Lista"/>
          <p:cNvSpPr txBox="1"/>
          <p:nvPr/>
        </p:nvSpPr>
        <p:spPr>
          <a:xfrm>
            <a:off x="77724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teórico-práctico completo.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todas las prácticas.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5 en cada parte.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parte no llega a 5, la nota máxima es 4.</a:t>
            </a:r>
            <a:endParaRPr lang="en-US" sz="1500" dirty="0"/>
          </a:p>
        </p:txBody>
      </p:sp>
      <p:sp>
        <p:nvSpPr>
          <p:cNvPr id="7" name="Bloque"/>
          <p:cNvSpPr/>
          <p:nvPr/>
        </p:nvSpPr>
        <p:spPr>
          <a:xfrm>
            <a:off x="470916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EVALUACIÓN EXTRAORDINARIA (JUNIO)</a:t>
            </a:r>
            <a:endParaRPr lang="en-US" sz="1100" dirty="0"/>
          </a:p>
        </p:txBody>
      </p:sp>
      <p:sp>
        <p:nvSpPr>
          <p:cNvPr id="9" name="Lista"/>
          <p:cNvSpPr txBox="1"/>
          <p:nvPr/>
        </p:nvSpPr>
        <p:spPr>
          <a:xfrm>
            <a:off x="493776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 con todos los contenidos.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pendientes en una nueva fecha.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5/10 en teoría y en práctica.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4,9 no se redondea.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AF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APROBAR NECESITAS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 exámenes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 trabajos y prácticas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trabajos en fecha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la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adecuada: respeto, puntualidad y participación.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DEIM · Guía del módulo</dc:title>
  <dc:subject>PptxGenJS Presentation</dc:subject>
  <dc:creator>Andrés Vidal Martín Martín</dc:creator>
  <cp:lastModifiedBy>Andrés Vidal Martín Martín</cp:lastModifiedBy>
  <cp:revision>1</cp:revision>
  <dcterms:created xsi:type="dcterms:W3CDTF">2026-10-24T01:55:09Z</dcterms:created>
  <dcterms:modified xsi:type="dcterms:W3CDTF">2026-10-24T01:55:09Z</dcterms:modified>
</cp:coreProperties>
</file>