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256032" cy="0"/>
          </a:xfrm>
          <a:prstGeom prst="line">
            <a:avLst/>
          </a:prstGeom>
          <a:noFill/>
          <a:ln w="19050">
            <a:solidFill>
              <a:srgbClr val="2AFF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228600"/>
            <a:ext cx="0" cy="256032"/>
          </a:xfrm>
          <a:prstGeom prst="line">
            <a:avLst/>
          </a:prstGeom>
          <a:noFill/>
          <a:ln w="19050">
            <a:solidFill>
              <a:srgbClr val="2AFF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59368" y="4914900"/>
            <a:ext cx="256032" cy="0"/>
          </a:xfrm>
          <a:prstGeom prst="line">
            <a:avLst/>
          </a:prstGeom>
          <a:noFill/>
          <a:ln w="19050">
            <a:solidFill>
              <a:srgbClr val="2AFF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15400" y="4658868"/>
            <a:ext cx="0" cy="256032"/>
          </a:xfrm>
          <a:prstGeom prst="line">
            <a:avLst/>
          </a:prstGeom>
          <a:noFill/>
          <a:ln w="19050">
            <a:solidFill>
              <a:srgbClr val="2AFF6B"/>
            </a:solidFill>
            <a:prstDash val="solid"/>
          </a:ln>
        </p:spPr>
      </p:sp>
      <p:sp>
        <p:nvSpPr>
          <p:cNvPr id="6" name="Text 4"/>
          <p:cNvSpPr/>
          <p:nvPr>
            <p:ph idx="104" type="body" hasCustomPrompt="1"/>
          </p:nvPr>
        </p:nvSpPr>
        <p:spPr>
          <a:xfrm>
            <a:off x="548640" y="1371600"/>
            <a:ext cx="80467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spc="300" kern="0" dirty="0">
                <a:solidFill>
                  <a:srgbClr val="2AF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7" name="Text 4"/>
          <p:cNvSpPr/>
          <p:nvPr>
            <p:ph idx="105" type="title" hasCustomPrompt="1"/>
          </p:nvPr>
        </p:nvSpPr>
        <p:spPr>
          <a:xfrm>
            <a:off x="548640" y="1737360"/>
            <a:ext cx="804672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8" name="Text 4"/>
          <p:cNvSpPr/>
          <p:nvPr>
            <p:ph idx="106" type="body" hasCustomPrompt="1"/>
          </p:nvPr>
        </p:nvSpPr>
        <p:spPr>
          <a:xfrm>
            <a:off x="548640" y="342900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8A94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256032" cy="0"/>
          </a:xfrm>
          <a:prstGeom prst="line">
            <a:avLst/>
          </a:prstGeom>
          <a:noFill/>
          <a:ln w="19050">
            <a:solidFill>
              <a:srgbClr val="2AFF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228600"/>
            <a:ext cx="0" cy="256032"/>
          </a:xfrm>
          <a:prstGeom prst="line">
            <a:avLst/>
          </a:prstGeom>
          <a:noFill/>
          <a:ln w="19050">
            <a:solidFill>
              <a:srgbClr val="2AFF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59368" y="4914900"/>
            <a:ext cx="256032" cy="0"/>
          </a:xfrm>
          <a:prstGeom prst="line">
            <a:avLst/>
          </a:prstGeom>
          <a:noFill/>
          <a:ln w="19050">
            <a:solidFill>
              <a:srgbClr val="2AFF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15400" y="4658868"/>
            <a:ext cx="0" cy="256032"/>
          </a:xfrm>
          <a:prstGeom prst="line">
            <a:avLst/>
          </a:prstGeom>
          <a:noFill/>
          <a:ln w="19050">
            <a:solidFill>
              <a:srgbClr val="2AFF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7594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94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DEIM · Andrés Vidal Martín Martín</a:t>
            </a:r>
            <a:endParaRPr lang="en-US" sz="800" dirty="0"/>
          </a:p>
        </p:txBody>
      </p:sp>
      <p:sp>
        <p:nvSpPr>
          <p:cNvPr id="7" name="Text 5"/>
          <p:cNvSpPr/>
          <p:nvPr>
            <p:ph idx="105" type="body" hasCustomPrompt="1"/>
          </p:nvPr>
        </p:nvSpPr>
        <p:spPr>
          <a:xfrm>
            <a:off x="548640" y="411480"/>
            <a:ext cx="804672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spc="300" kern="0" dirty="0">
                <a:solidFill>
                  <a:srgbClr val="2AF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8" name="Text 5"/>
          <p:cNvSpPr/>
          <p:nvPr>
            <p:ph idx="106" type="title" hasCustomPrompt="1"/>
          </p:nvPr>
        </p:nvSpPr>
        <p:spPr>
          <a:xfrm>
            <a:off x="548640" y="713232"/>
            <a:ext cx="804672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320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8D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320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8D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body" hasCustomPrompt="1"/>
          </p:nvPr>
        </p:nvSpPr>
        <p:spPr>
          <a:xfrm>
            <a:off x="548640" y="13716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2AF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DEIM · P5.JS · EJEMPLO GUIADO</a:t>
            </a:r>
            <a:endParaRPr lang="en-US" sz="1200" dirty="0"/>
          </a:p>
        </p:txBody>
      </p:sp>
      <p:sp>
        <p:nvSpPr>
          <p:cNvPr id="3" name="Text 4"/>
          <p:cNvSpPr/>
          <p:nvPr>
            <p:ph idx="105" type="title" hasCustomPrompt="1"/>
          </p:nvPr>
        </p:nvSpPr>
        <p:spPr>
          <a:xfrm>
            <a:off x="548640" y="1737360"/>
            <a:ext cx="8046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 SKETCH EN CUATRO ITERACIONES CON IA</a:t>
            </a:r>
            <a:endParaRPr lang="en-US" sz="3400" dirty="0"/>
          </a:p>
        </p:txBody>
      </p:sp>
      <p:sp>
        <p:nvSpPr>
          <p:cNvPr id="4" name="Text 4"/>
          <p:cNvSpPr/>
          <p:nvPr>
            <p:ph idx="106" type="body" hasCustomPrompt="1"/>
          </p:nvPr>
        </p:nvSpPr>
        <p:spPr>
          <a:xfrm>
            <a:off x="548640" y="34290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A94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pedir código a ChatGPT, mejorarlo paso a paso y entender cada cambio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body" hasCustomPrompt="1"/>
          </p:nvPr>
        </p:nvSpPr>
        <p:spPr>
          <a:xfrm>
            <a:off x="548640" y="411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2AF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ITERACIÓN 1 · PETICIÓN</a:t>
            </a:r>
            <a:endParaRPr lang="en-US" sz="1100" dirty="0"/>
          </a:p>
        </p:txBody>
      </p:sp>
      <p:sp>
        <p:nvSpPr>
          <p:cNvPr id="3" name="Text 5"/>
          <p:cNvSpPr/>
          <p:nvPr>
            <p:ph idx="106" type="title" hasCustomPrompt="1"/>
          </p:nvPr>
        </p:nvSpPr>
        <p:spPr>
          <a:xfrm>
            <a:off x="548640" y="71323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EMPIEZA CON UN ENCARGO CLARO</a:t>
            </a:r>
            <a:endParaRPr lang="en-US" sz="2600" dirty="0"/>
          </a:p>
        </p:txBody>
      </p:sp>
      <p:sp>
        <p:nvSpPr>
          <p:cNvPr id="4" name="Entradilla"/>
          <p:cNvSpPr txBox="1"/>
          <p:nvPr/>
        </p:nvSpPr>
        <p:spPr>
          <a:xfrm>
            <a:off x="548640" y="1417320"/>
            <a:ext cx="804672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Nombra los conceptos que quieres practicar y pide que te explique cada línea:</a:t>
            </a:r>
            <a:endParaRPr lang="en-US" sz="1600" dirty="0"/>
          </a:p>
        </p:txBody>
      </p:sp>
      <p:sp>
        <p:nvSpPr>
          <p:cNvPr id="5" name="Fondo del código"/>
          <p:cNvSpPr/>
          <p:nvPr/>
        </p:nvSpPr>
        <p:spPr>
          <a:xfrm>
            <a:off x="548640" y="1882648"/>
            <a:ext cx="8046720" cy="1089914"/>
          </a:xfrm>
          <a:prstGeom prst="rect">
            <a:avLst/>
          </a:prstGeom>
          <a:solidFill>
            <a:srgbClr val="0F1311"/>
          </a:solidFill>
          <a:ln w="9525">
            <a:solidFill>
              <a:srgbClr val="1F2A22"/>
            </a:solidFill>
            <a:prstDash val="solid"/>
          </a:ln>
        </p:spPr>
      </p:sp>
      <p:sp>
        <p:nvSpPr>
          <p:cNvPr id="6" name="Código"/>
          <p:cNvSpPr txBox="1"/>
          <p:nvPr/>
        </p:nvSpPr>
        <p:spPr>
          <a:xfrm>
            <a:off x="731520" y="1992376"/>
            <a:ext cx="7680960" cy="870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D7DF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Dame un código sencillo en p5.js que use los conceptos:</a:t>
            </a:r>
            <a:endParaRPr lang="en-US" sz="13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D7DF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variables, condicionales, operadores, bucles y funciones.</a:t>
            </a:r>
            <a:endParaRPr lang="en-US" sz="13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D7DF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Comenta cada línea y explica de manera sencilla cada</a:t>
            </a:r>
            <a:endParaRPr lang="en-US" sz="13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D7DF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proceso. Una frase y sin emojis.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4163568"/>
            <a:ext cx="8046720" cy="0"/>
          </a:xfrm>
          <a:prstGeom prst="line">
            <a:avLst/>
          </a:prstGeom>
          <a:noFill/>
          <a:ln w="9525">
            <a:solidFill>
              <a:srgbClr val="1F2A22"/>
            </a:solidFill>
            <a:prstDash val="solid"/>
          </a:ln>
        </p:spPr>
      </p:sp>
      <p:sp>
        <p:nvSpPr>
          <p:cNvPr id="8" name="Nota"/>
          <p:cNvSpPr txBox="1"/>
          <p:nvPr/>
        </p:nvSpPr>
        <p:spPr>
          <a:xfrm>
            <a:off x="548640" y="4236720"/>
            <a:ext cx="804672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4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buen encargo dice </a:t>
            </a:r>
            <a:r>
              <a:rPr lang="en-US" sz="12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</a:t>
            </a:r>
            <a:r>
              <a:rPr lang="en-US" sz="1200" dirty="0">
                <a:solidFill>
                  <a:srgbClr val="8A94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quieres, </a:t>
            </a:r>
            <a:r>
              <a:rPr lang="en-US" sz="12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conceptos</a:t>
            </a:r>
            <a:r>
              <a:rPr lang="en-US" sz="1200" dirty="0">
                <a:solidFill>
                  <a:srgbClr val="8A94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debe usar y </a:t>
            </a:r>
            <a:r>
              <a:rPr lang="en-US" sz="12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</a:t>
            </a:r>
            <a:r>
              <a:rPr lang="en-US" sz="1200" dirty="0">
                <a:solidFill>
                  <a:srgbClr val="8A94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quieres la explicación.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320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8D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body" hasCustomPrompt="1"/>
          </p:nvPr>
        </p:nvSpPr>
        <p:spPr>
          <a:xfrm>
            <a:off x="548640" y="411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2AF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ITERACIÓN 1 · RESULTADO</a:t>
            </a:r>
            <a:endParaRPr lang="en-US" sz="1100" dirty="0"/>
          </a:p>
        </p:txBody>
      </p:sp>
      <p:sp>
        <p:nvSpPr>
          <p:cNvPr id="3" name="Text 5"/>
          <p:cNvSpPr/>
          <p:nvPr>
            <p:ph idx="106" type="title" hasCustomPrompt="1"/>
          </p:nvPr>
        </p:nvSpPr>
        <p:spPr>
          <a:xfrm>
            <a:off x="548640" y="71323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CINCO PELOTAS QUE VAN Y VIENEN</a:t>
            </a:r>
            <a:endParaRPr lang="en-US" sz="2600" dirty="0"/>
          </a:p>
        </p:txBody>
      </p:sp>
      <p:sp>
        <p:nvSpPr>
          <p:cNvPr id="4" name="Fondo del código"/>
          <p:cNvSpPr/>
          <p:nvPr/>
        </p:nvSpPr>
        <p:spPr>
          <a:xfrm>
            <a:off x="548640" y="1417320"/>
            <a:ext cx="8046720" cy="3097530"/>
          </a:xfrm>
          <a:prstGeom prst="rect">
            <a:avLst/>
          </a:prstGeom>
          <a:solidFill>
            <a:srgbClr val="0F1311"/>
          </a:solidFill>
          <a:ln w="9525">
            <a:solidFill>
              <a:srgbClr val="1F2A22"/>
            </a:solidFill>
            <a:prstDash val="solid"/>
          </a:ln>
        </p:spPr>
      </p:sp>
      <p:sp>
        <p:nvSpPr>
          <p:cNvPr id="5" name="Código"/>
          <p:cNvSpPr txBox="1"/>
          <p:nvPr/>
        </p:nvSpPr>
        <p:spPr>
          <a:xfrm>
            <a:off x="731520" y="1527048"/>
            <a:ext cx="7680960" cy="2878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D7DF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x = 50, speed = 2;            // variables</a:t>
            </a:r>
            <a:endParaRPr lang="en-US" sz="1000" dirty="0"/>
          </a:p>
          <a:p>
            <a:pPr indent="0" marL="0">
              <a:lnSpc>
                <a:spcPct val="95000"/>
              </a:lnSpc>
              <a:buNone/>
            </a:pPr>
            <a:endParaRPr lang="en-US" sz="1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D7DF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setup() { createCanvas(400, 400); }</a:t>
            </a:r>
            <a:endParaRPr lang="en-US" sz="1000" dirty="0"/>
          </a:p>
          <a:p>
            <a:pPr indent="0" marL="0">
              <a:lnSpc>
                <a:spcPct val="95000"/>
              </a:lnSpc>
              <a:buNone/>
            </a:pPr>
            <a:endParaRPr lang="en-US" sz="1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D7DF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draw() {</a:t>
            </a:r>
            <a:endParaRPr lang="en-US" sz="1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D7DF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background(220);</a:t>
            </a:r>
            <a:endParaRPr lang="en-US" sz="1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D7DF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x = x + speed;                   // operador</a:t>
            </a:r>
            <a:endParaRPr lang="en-US" sz="1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D7DF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(x &gt; width - 25 || x &lt; 25) {  // condicional + lógico</a:t>
            </a:r>
            <a:endParaRPr lang="en-US" sz="1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D7DF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speed = -speed;</a:t>
            </a:r>
            <a:endParaRPr lang="en-US" sz="1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D7DF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D7DF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(let i = 0; i &lt; 5; i++) {    // bucle</a:t>
            </a:r>
            <a:endParaRPr lang="en-US" sz="1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D7DF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drawBall(x, 100 + i * 50, 30);</a:t>
            </a:r>
            <a:endParaRPr lang="en-US" sz="1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D7DF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D7DF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95000"/>
              </a:lnSpc>
              <a:buNone/>
            </a:pPr>
            <a:endParaRPr lang="en-US" sz="1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D7DF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drawBall(px, py, size) {  // función propia</a:t>
            </a:r>
            <a:endParaRPr lang="en-US" sz="1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D7DF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fill(100, 150, 255); noStroke(); ellipse(px, py, size, size);</a:t>
            </a:r>
            <a:endParaRPr lang="en-US" sz="1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D7DF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320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8D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body" hasCustomPrompt="1"/>
          </p:nvPr>
        </p:nvSpPr>
        <p:spPr>
          <a:xfrm>
            <a:off x="548640" y="411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2AF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ITERACIÓN 2 · PETICIÓN</a:t>
            </a:r>
            <a:endParaRPr lang="en-US" sz="1100" dirty="0"/>
          </a:p>
        </p:txBody>
      </p:sp>
      <p:sp>
        <p:nvSpPr>
          <p:cNvPr id="3" name="Text 5"/>
          <p:cNvSpPr/>
          <p:nvPr>
            <p:ph idx="106" type="title" hasCustomPrompt="1"/>
          </p:nvPr>
        </p:nvSpPr>
        <p:spPr>
          <a:xfrm>
            <a:off x="548640" y="71323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PIDE CAMBIOS CONCRETOS</a:t>
            </a:r>
            <a:endParaRPr lang="en-US" sz="2600" dirty="0"/>
          </a:p>
        </p:txBody>
      </p:sp>
      <p:sp>
        <p:nvSpPr>
          <p:cNvPr id="4" name="Entradilla"/>
          <p:cNvSpPr txBox="1"/>
          <p:nvPr/>
        </p:nvSpPr>
        <p:spPr>
          <a:xfrm>
            <a:off x="548640" y="1417320"/>
            <a:ext cx="8046720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«Las pelotas no llegan a tocar el borde. Quiero que parezca que </a:t>
            </a: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rebotan en los extremos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que tengan </a:t>
            </a: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diferentes ritmos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Explícame cómo lo haces.»</a:t>
            </a:r>
            <a:endParaRPr lang="en-US" sz="1600" dirty="0"/>
          </a:p>
        </p:txBody>
      </p:sp>
      <p:sp>
        <p:nvSpPr>
          <p:cNvPr id="5" name="Lista"/>
          <p:cNvSpPr txBox="1"/>
          <p:nvPr/>
        </p:nvSpPr>
        <p:spPr>
          <a:xfrm>
            <a:off x="548640" y="2146808"/>
            <a:ext cx="8046720" cy="1631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Tocar el borde: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pelota mide 30, así que su radio es 15. El límite pasa a ser </a:t>
            </a:r>
            <a:r>
              <a:rPr lang="en-US" sz="1600" dirty="0">
                <a:solidFill>
                  <a:srgbClr val="2AF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width - 15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600" dirty="0">
                <a:solidFill>
                  <a:srgbClr val="2AF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Rebote: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 llegar al límite, la velocidad se multiplica por −1.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Ritmos distintos: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cada pelota guarda su propia posición y velocidad en arrays.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320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8D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body" hasCustomPrompt="1"/>
          </p:nvPr>
        </p:nvSpPr>
        <p:spPr>
          <a:xfrm>
            <a:off x="548640" y="411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2AF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ITERACIÓN 2 · RESULTADO</a:t>
            </a:r>
            <a:endParaRPr lang="en-US" sz="1100" dirty="0"/>
          </a:p>
        </p:txBody>
      </p:sp>
      <p:sp>
        <p:nvSpPr>
          <p:cNvPr id="3" name="Text 5"/>
          <p:cNvSpPr/>
          <p:nvPr>
            <p:ph idx="106" type="title" hasCustomPrompt="1"/>
          </p:nvPr>
        </p:nvSpPr>
        <p:spPr>
          <a:xfrm>
            <a:off x="548640" y="71323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ARRAYS: UN DATO POR PELOTA</a:t>
            </a:r>
            <a:endParaRPr lang="en-US" sz="2600" dirty="0"/>
          </a:p>
        </p:txBody>
      </p:sp>
      <p:sp>
        <p:nvSpPr>
          <p:cNvPr id="4" name="Fondo del código"/>
          <p:cNvSpPr/>
          <p:nvPr/>
        </p:nvSpPr>
        <p:spPr>
          <a:xfrm>
            <a:off x="548640" y="1417320"/>
            <a:ext cx="8046720" cy="3097530"/>
          </a:xfrm>
          <a:prstGeom prst="rect">
            <a:avLst/>
          </a:prstGeom>
          <a:solidFill>
            <a:srgbClr val="0F1311"/>
          </a:solidFill>
          <a:ln w="9525">
            <a:solidFill>
              <a:srgbClr val="1F2A22"/>
            </a:solidFill>
            <a:prstDash val="solid"/>
          </a:ln>
        </p:spPr>
      </p:sp>
      <p:sp>
        <p:nvSpPr>
          <p:cNvPr id="5" name="Código"/>
          <p:cNvSpPr txBox="1"/>
          <p:nvPr/>
        </p:nvSpPr>
        <p:spPr>
          <a:xfrm>
            <a:off x="731520" y="1527048"/>
            <a:ext cx="7680960" cy="2878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D7DF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total = 5, xs = [], speeds = [];</a:t>
            </a:r>
            <a:endParaRPr lang="en-US" sz="1000" dirty="0"/>
          </a:p>
          <a:p>
            <a:pPr indent="0" marL="0">
              <a:lnSpc>
                <a:spcPct val="95000"/>
              </a:lnSpc>
              <a:buNone/>
            </a:pPr>
            <a:endParaRPr lang="en-US" sz="1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D7DF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setup() {</a:t>
            </a:r>
            <a:endParaRPr lang="en-US" sz="1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D7DF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createCanvas(400, 400);</a:t>
            </a:r>
            <a:endParaRPr lang="en-US" sz="1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D7DF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(let i = 0; i &lt; total; i++) {</a:t>
            </a:r>
            <a:endParaRPr lang="en-US" sz="1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D7DF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xs[i] = random(25, width - 25);  // posición inicial</a:t>
            </a:r>
            <a:endParaRPr lang="en-US" sz="1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D7DF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speeds[i] = random(1, 4);        // velocidad propia</a:t>
            </a:r>
            <a:endParaRPr lang="en-US" sz="1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D7DF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D7DF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95000"/>
              </a:lnSpc>
              <a:buNone/>
            </a:pPr>
            <a:endParaRPr lang="en-US" sz="1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D7DF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draw() {</a:t>
            </a:r>
            <a:endParaRPr lang="en-US" sz="1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D7DF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background(220);</a:t>
            </a:r>
            <a:endParaRPr lang="en-US" sz="1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D7DF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(let i = 0; i &lt; total; i++) {</a:t>
            </a:r>
            <a:endParaRPr lang="en-US" sz="1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D7DF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xs[i] = xs[i] + speeds[i];</a:t>
            </a:r>
            <a:endParaRPr lang="en-US" sz="1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D7DF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(xs[i] &gt;= width - 15 || xs[i] &lt;= 15) speeds[i] = -speeds[i];</a:t>
            </a:r>
            <a:endParaRPr lang="en-US" sz="1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D7DF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drawBall(xs[i], 100 + i * 50, 30);</a:t>
            </a:r>
            <a:endParaRPr lang="en-US" sz="1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D7DF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D7DF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320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8D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body" hasCustomPrompt="1"/>
          </p:nvPr>
        </p:nvSpPr>
        <p:spPr>
          <a:xfrm>
            <a:off x="548640" y="411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2AF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ITERACIÓN 3 · PETICIÓN</a:t>
            </a:r>
            <a:endParaRPr lang="en-US" sz="1100" dirty="0"/>
          </a:p>
        </p:txBody>
      </p:sp>
      <p:sp>
        <p:nvSpPr>
          <p:cNvPr id="3" name="Text 5"/>
          <p:cNvSpPr/>
          <p:nvPr>
            <p:ph idx="106" type="title" hasCustomPrompt="1"/>
          </p:nvPr>
        </p:nvSpPr>
        <p:spPr>
          <a:xfrm>
            <a:off x="548640" y="71323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PREGUNTA LO QUE NO ENTIENDAS</a:t>
            </a:r>
            <a:endParaRPr lang="en-US" sz="2600" dirty="0"/>
          </a:p>
        </p:txBody>
      </p:sp>
      <p:sp>
        <p:nvSpPr>
          <p:cNvPr id="4" name="Entradilla"/>
          <p:cNvSpPr txBox="1"/>
          <p:nvPr/>
        </p:nvSpPr>
        <p:spPr>
          <a:xfrm>
            <a:off x="548640" y="1417320"/>
            <a:ext cx="804672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«No entendí bien lo del bucle </a:t>
            </a:r>
            <a:r>
              <a:rPr lang="en-US" sz="1600" dirty="0">
                <a:solidFill>
                  <a:srgbClr val="2AF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¿me lo explicas detalladamente?»</a:t>
            </a:r>
            <a:endParaRPr lang="en-US" sz="1600" dirty="0"/>
          </a:p>
        </p:txBody>
      </p:sp>
      <p:graphicFrame>
        <p:nvGraphicFramePr>
          <p:cNvPr id="7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82648"/>
          <a:ext cx="804672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011680"/>
                <a:gridCol w="4754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spc="100" kern="0" dirty="0">
                          <a:solidFill>
                            <a:srgbClr val="2AFF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PARTE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AF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spc="100" kern="0" dirty="0">
                          <a:solidFill>
                            <a:srgbClr val="2AFF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CÓDIGO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AF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spc="100" kern="0" dirty="0">
                          <a:solidFill>
                            <a:srgbClr val="2AFF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QUÉ HACE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AF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2F2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Inicio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FF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let i = 0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4CC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contador empieza en la primera pelota.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2F2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Condición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FF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 &lt; total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4CC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Sigue mientras queden pelotas: i vale 0, 1, 2, 3 y 4.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2F2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Cambio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FF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i++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4CC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Igual que </a:t>
                      </a:r>
                      <a:r>
                        <a:rPr lang="en-US" sz="1400" dirty="0">
                          <a:solidFill>
                            <a:srgbClr val="2AFF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 = i + 1</a:t>
                      </a:r>
                      <a:r>
                        <a:rPr lang="en-US" sz="1400" dirty="0">
                          <a:solidFill>
                            <a:srgbClr val="C4CC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: pasa a la siguiente pelota.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320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8D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body" hasCustomPrompt="1"/>
          </p:nvPr>
        </p:nvSpPr>
        <p:spPr>
          <a:xfrm>
            <a:off x="548640" y="411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2AF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ITERACIÓN 3 · EXPLICACIÓN</a:t>
            </a:r>
            <a:endParaRPr lang="en-US" sz="1100" dirty="0"/>
          </a:p>
        </p:txBody>
      </p:sp>
      <p:sp>
        <p:nvSpPr>
          <p:cNvPr id="3" name="Text 5"/>
          <p:cNvSpPr/>
          <p:nvPr>
            <p:ph idx="106" type="title" hasCustomPrompt="1"/>
          </p:nvPr>
        </p:nvSpPr>
        <p:spPr>
          <a:xfrm>
            <a:off x="548640" y="71323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UNA VUELTA POR PELOTA</a:t>
            </a:r>
            <a:endParaRPr lang="en-US" sz="26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417320"/>
            <a:ext cx="8046720" cy="1969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600" dirty="0">
                <a:solidFill>
                  <a:srgbClr val="2AF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indica </a:t>
            </a: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qué pelota nos ocupamos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600" dirty="0">
                <a:solidFill>
                  <a:srgbClr val="2AF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xs[i]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600" dirty="0">
                <a:solidFill>
                  <a:srgbClr val="2AF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speeds[i]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son sus datos.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600" dirty="0">
                <a:solidFill>
                  <a:srgbClr val="2AF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y = 100 + i * 50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coloca cada pelota en su propia fila: 100, 150, 200…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de la vuelta se </a:t>
            </a: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mueve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se </a:t>
            </a: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comprueba el borde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se </a:t>
            </a: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dibuja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esa pelota.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ocurre en cada fotograma de </a:t>
            </a:r>
            <a:r>
              <a:rPr lang="en-US" sz="1600" dirty="0">
                <a:solidFill>
                  <a:srgbClr val="2AF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draw()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muchas veces por segundo: por eso parece que se mueven a la vez.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4163568"/>
            <a:ext cx="8046720" cy="0"/>
          </a:xfrm>
          <a:prstGeom prst="line">
            <a:avLst/>
          </a:prstGeom>
          <a:noFill/>
          <a:ln w="9525">
            <a:solidFill>
              <a:srgbClr val="1F2A22"/>
            </a:solidFill>
            <a:prstDash val="solid"/>
          </a:ln>
        </p:spPr>
      </p:sp>
      <p:sp>
        <p:nvSpPr>
          <p:cNvPr id="6" name="Nota"/>
          <p:cNvSpPr txBox="1"/>
          <p:nvPr/>
        </p:nvSpPr>
        <p:spPr>
          <a:xfrm>
            <a:off x="548640" y="4236720"/>
            <a:ext cx="804672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4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el bucle tendríamos que repetir el mismo código cinco veces.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320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8D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body" hasCustomPrompt="1"/>
          </p:nvPr>
        </p:nvSpPr>
        <p:spPr>
          <a:xfrm>
            <a:off x="548640" y="411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2AF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ITERACIÓN 4 · PETICIÓN</a:t>
            </a:r>
            <a:endParaRPr lang="en-US" sz="1100" dirty="0"/>
          </a:p>
        </p:txBody>
      </p:sp>
      <p:sp>
        <p:nvSpPr>
          <p:cNvPr id="3" name="Text 5"/>
          <p:cNvSpPr/>
          <p:nvPr>
            <p:ph idx="106" type="title" hasCustomPrompt="1"/>
          </p:nvPr>
        </p:nvSpPr>
        <p:spPr>
          <a:xfrm>
            <a:off x="548640" y="71323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FONDO NEGRO Y COLOR AL REBOTAR</a:t>
            </a:r>
            <a:endParaRPr lang="en-US" sz="2600" dirty="0"/>
          </a:p>
        </p:txBody>
      </p:sp>
      <p:sp>
        <p:nvSpPr>
          <p:cNvPr id="4" name="Fondo del código"/>
          <p:cNvSpPr/>
          <p:nvPr/>
        </p:nvSpPr>
        <p:spPr>
          <a:xfrm>
            <a:off x="548640" y="1417320"/>
            <a:ext cx="8046720" cy="2909316"/>
          </a:xfrm>
          <a:prstGeom prst="rect">
            <a:avLst/>
          </a:prstGeom>
          <a:solidFill>
            <a:srgbClr val="0F1311"/>
          </a:solidFill>
          <a:ln w="9525">
            <a:solidFill>
              <a:srgbClr val="1F2A22"/>
            </a:solidFill>
            <a:prstDash val="solid"/>
          </a:ln>
        </p:spPr>
      </p:sp>
      <p:sp>
        <p:nvSpPr>
          <p:cNvPr id="5" name="Código"/>
          <p:cNvSpPr txBox="1"/>
          <p:nvPr/>
        </p:nvSpPr>
        <p:spPr>
          <a:xfrm>
            <a:off x="731520" y="1527048"/>
            <a:ext cx="7680960" cy="2689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D7DF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colors = [];                       // un color por pelota</a:t>
            </a:r>
            <a:endParaRPr lang="en-US" sz="1200" dirty="0"/>
          </a:p>
          <a:p>
            <a:pPr indent="0" marL="0">
              <a:lnSpc>
                <a:spcPct val="95000"/>
              </a:lnSpc>
              <a:buNone/>
            </a:pPr>
            <a:endParaRPr lang="en-US" sz="1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D7DF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en setup(): color inicial aleatorio</a:t>
            </a:r>
            <a:endParaRPr lang="en-US" sz="1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D7DF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colors[i] = color(random(255), random(255), random(255));</a:t>
            </a:r>
            <a:endParaRPr lang="en-US" sz="1200" dirty="0"/>
          </a:p>
          <a:p>
            <a:pPr indent="0" marL="0">
              <a:lnSpc>
                <a:spcPct val="95000"/>
              </a:lnSpc>
              <a:buNone/>
            </a:pPr>
            <a:endParaRPr lang="en-US" sz="1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D7DF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en draw(): al rebotar cambia la dirección y el color</a:t>
            </a:r>
            <a:endParaRPr lang="en-US" sz="1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D7DF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background(0);</a:t>
            </a:r>
            <a:endParaRPr lang="en-US" sz="1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D7DF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(xs[i] &gt;= width - 15 || xs[i] &lt;= 15) {</a:t>
            </a:r>
            <a:endParaRPr lang="en-US" sz="1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D7DF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speeds[i] = -speeds[i];</a:t>
            </a:r>
            <a:endParaRPr lang="en-US" sz="1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D7DF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colors[i] = color(random(255), random(255), random(255));</a:t>
            </a:r>
            <a:endParaRPr lang="en-US" sz="1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D7DF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D7DF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drawBall(xs[i], y, 30, colors[i]);</a:t>
            </a:r>
            <a:endParaRPr lang="en-US" sz="1200" dirty="0"/>
          </a:p>
          <a:p>
            <a:pPr indent="0" marL="0">
              <a:lnSpc>
                <a:spcPct val="95000"/>
              </a:lnSpc>
              <a:buNone/>
            </a:pPr>
            <a:endParaRPr lang="en-US" sz="1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D7DF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drawBall(px, py, size, col) { fill(col); noStroke(); ellipse(px, py, size, size); }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320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8D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body" hasCustomPrompt="1"/>
          </p:nvPr>
        </p:nvSpPr>
        <p:spPr>
          <a:xfrm>
            <a:off x="548640" y="411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2AF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ITERACIÓN 4 · EXPLICACIÓN</a:t>
            </a:r>
            <a:endParaRPr lang="en-US" sz="1100" dirty="0"/>
          </a:p>
        </p:txBody>
      </p:sp>
      <p:sp>
        <p:nvSpPr>
          <p:cNvPr id="3" name="Text 5"/>
          <p:cNvSpPr/>
          <p:nvPr>
            <p:ph idx="106" type="title" hasCustomPrompt="1"/>
          </p:nvPr>
        </p:nvSpPr>
        <p:spPr>
          <a:xfrm>
            <a:off x="548640" y="71323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CÓMO FUNCIONA EL COLOR</a:t>
            </a:r>
            <a:endParaRPr lang="en-US" sz="26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417320"/>
            <a:ext cx="804672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array </a:t>
            </a:r>
            <a:r>
              <a:rPr lang="en-US" sz="1600" dirty="0">
                <a:solidFill>
                  <a:srgbClr val="2AF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colors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guarda </a:t>
            </a: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color por pelota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igual que </a:t>
            </a:r>
            <a:r>
              <a:rPr lang="en-US" sz="1600" dirty="0">
                <a:solidFill>
                  <a:srgbClr val="2AF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xs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600" dirty="0">
                <a:solidFill>
                  <a:srgbClr val="2AF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speeds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2AF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color(r, g, b)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crea un color; </a:t>
            </a:r>
            <a:r>
              <a:rPr lang="en-US" sz="1600" dirty="0">
                <a:solidFill>
                  <a:srgbClr val="2AF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random(255)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 cada canal al azar.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</a:t>
            </a:r>
            <a:r>
              <a:rPr lang="en-US" sz="1600" dirty="0">
                <a:solidFill>
                  <a:srgbClr val="2AF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setup()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cada pelota recibe un </a:t>
            </a: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inicial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</a:t>
            </a:r>
            <a:r>
              <a:rPr lang="en-US" sz="1600" dirty="0">
                <a:solidFill>
                  <a:srgbClr val="2AF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rebote se le asigna </a:t>
            </a: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otro color nuevo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2AF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drawBall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recibe el color y lo aplica con </a:t>
            </a:r>
            <a:r>
              <a:rPr lang="en-US" sz="1600" dirty="0">
                <a:solidFill>
                  <a:srgbClr val="2AF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fill(col)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320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8D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body" hasCustomPrompt="1"/>
          </p:nvPr>
        </p:nvSpPr>
        <p:spPr>
          <a:xfrm>
            <a:off x="548640" y="411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2AF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 QUE NOS LLEVAMOS</a:t>
            </a:r>
            <a:endParaRPr lang="en-US" sz="1100" dirty="0"/>
          </a:p>
        </p:txBody>
      </p:sp>
      <p:sp>
        <p:nvSpPr>
          <p:cNvPr id="3" name="Text 5"/>
          <p:cNvSpPr/>
          <p:nvPr>
            <p:ph idx="106" type="title" hasCustomPrompt="1"/>
          </p:nvPr>
        </p:nvSpPr>
        <p:spPr>
          <a:xfrm>
            <a:off x="548640" y="71323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PROGRAMAR CON IA</a:t>
            </a:r>
            <a:endParaRPr lang="en-US" sz="26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417320"/>
            <a:ext cx="8046720" cy="1103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 en </a:t>
            </a: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pasos pequeños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prueba cada versión en el editor.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Pide </a:t>
            </a: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comentarios y explicaciones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 solo código.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todo lo que no entiendas hasta poder </a:t>
            </a: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explicarlo con tus palabras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320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8D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onsola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DEIM · Un sketch en cuatro iteraciones con IA</dc:title>
  <dc:subject>PptxGenJS Presentation</dc:subject>
  <dc:creator>Andrés Vidal Martín Martín</dc:creator>
  <cp:lastModifiedBy>Andrés Vidal Martín Martín</cp:lastModifiedBy>
  <cp:revision>1</cp:revision>
  <dcterms:created xsi:type="dcterms:W3CDTF">2026-10-24T01:55:09Z</dcterms:created>
  <dcterms:modified xsi:type="dcterms:W3CDTF">2026-10-24T01:55:09Z</dcterms:modified>
</cp:coreProperties>
</file>