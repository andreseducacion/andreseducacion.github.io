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56032" cy="0"/>
          </a:xfrm>
          <a:prstGeom prst="line">
            <a:avLst/>
          </a:prstGeom>
          <a:noFill/>
          <a:ln w="19050">
            <a:solidFill>
              <a:srgbClr val="3EC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56032"/>
          </a:xfrm>
          <a:prstGeom prst="line">
            <a:avLst/>
          </a:prstGeom>
          <a:noFill/>
          <a:ln w="19050">
            <a:solidFill>
              <a:srgbClr val="3EC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59368" y="4914900"/>
            <a:ext cx="256032" cy="0"/>
          </a:xfrm>
          <a:prstGeom prst="line">
            <a:avLst/>
          </a:prstGeom>
          <a:noFill/>
          <a:ln w="19050">
            <a:solidFill>
              <a:srgbClr val="3EC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0" y="4658868"/>
            <a:ext cx="0" cy="256032"/>
          </a:xfrm>
          <a:prstGeom prst="line">
            <a:avLst/>
          </a:prstGeom>
          <a:noFill/>
          <a:ln w="19050">
            <a:solidFill>
              <a:srgbClr val="3EC5FF"/>
            </a:solidFill>
            <a:prstDash val="solid"/>
          </a:ln>
        </p:spPr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300" kern="0" dirty="0">
                <a:solidFill>
                  <a:srgbClr val="3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548640" y="1737360"/>
            <a:ext cx="80467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548640" y="34290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56032" cy="0"/>
          </a:xfrm>
          <a:prstGeom prst="line">
            <a:avLst/>
          </a:prstGeom>
          <a:noFill/>
          <a:ln w="19050">
            <a:solidFill>
              <a:srgbClr val="3EC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56032"/>
          </a:xfrm>
          <a:prstGeom prst="line">
            <a:avLst/>
          </a:prstGeom>
          <a:noFill/>
          <a:ln w="19050">
            <a:solidFill>
              <a:srgbClr val="3EC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59368" y="4914900"/>
            <a:ext cx="256032" cy="0"/>
          </a:xfrm>
          <a:prstGeom prst="line">
            <a:avLst/>
          </a:prstGeom>
          <a:noFill/>
          <a:ln w="19050">
            <a:solidFill>
              <a:srgbClr val="3EC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0" y="4658868"/>
            <a:ext cx="0" cy="256032"/>
          </a:xfrm>
          <a:prstGeom prst="line">
            <a:avLst/>
          </a:prstGeom>
          <a:noFill/>
          <a:ln w="19050">
            <a:solidFill>
              <a:srgbClr val="3EC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7594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4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ISDE · Andrés Vidal Martín Martín</a:t>
            </a:r>
            <a:endParaRPr lang="en-US" sz="800" dirty="0"/>
          </a:p>
        </p:txBody>
      </p:sp>
      <p:sp>
        <p:nvSpPr>
          <p:cNvPr id="7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300" kern="0" dirty="0">
                <a:solidFill>
                  <a:srgbClr val="3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8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ISDE · GUÍA DEL MÓDULO</a:t>
            </a:r>
            <a:endParaRPr lang="en-US" sz="12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548640" y="173736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INSTALACIONES DE SONORIZACIÓN DE EVENTOS</a:t>
            </a:r>
            <a:endParaRPr lang="en-US" sz="3400" dirty="0"/>
          </a:p>
        </p:txBody>
      </p:sp>
      <p:sp>
        <p:nvSpPr>
          <p:cNvPr id="4" name="Text 4"/>
          <p:cNvSpPr/>
          <p:nvPr>
            <p:ph idx="106" type="body" hasCustomPrompt="1"/>
          </p:nvPr>
        </p:nvSpPr>
        <p:spPr>
          <a:xfrm>
            <a:off x="548640" y="34290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Medio en Vídeo Disc-Jockey y Sonido · Profesor: Andrés Vidal Martín Martín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QUÉ VAMOS A VER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CONTENIDOS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8046720" cy="144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Instalaciones de sonorización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equipos y elementos.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planificación técnica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montaje.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 y conexión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sistemas de sonido.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Seguridad, normativa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diagnóstico de averías.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ORGANIZACIÓN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 LECTIVA</a:t>
            </a:r>
            <a:endParaRPr lang="en-US" sz="2600" dirty="0"/>
          </a:p>
        </p:txBody>
      </p:sp>
      <p:sp>
        <p:nvSpPr>
          <p:cNvPr id="4" name="Dato"/>
          <p:cNvSpPr/>
          <p:nvPr/>
        </p:nvSpPr>
        <p:spPr>
          <a:xfrm>
            <a:off x="548640" y="1417320"/>
            <a:ext cx="2438400" cy="155448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198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3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h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198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4CC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LECTIVAS</a:t>
            </a:r>
            <a:endParaRPr lang="en-US" sz="1100" dirty="0"/>
          </a:p>
        </p:txBody>
      </p:sp>
      <p:sp>
        <p:nvSpPr>
          <p:cNvPr id="7" name="Dato"/>
          <p:cNvSpPr/>
          <p:nvPr/>
        </p:nvSpPr>
        <p:spPr>
          <a:xfrm>
            <a:off x="3352800" y="1417320"/>
            <a:ext cx="2438400" cy="155448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1400" y="1645920"/>
            <a:ext cx="198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3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81400" y="2423160"/>
            <a:ext cx="198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4CC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TRIMESTRES</a:t>
            </a:r>
            <a:endParaRPr lang="en-US" sz="1100" dirty="0"/>
          </a:p>
        </p:txBody>
      </p:sp>
      <p:sp>
        <p:nvSpPr>
          <p:cNvPr id="10" name="Dato"/>
          <p:cNvSpPr/>
          <p:nvPr/>
        </p:nvSpPr>
        <p:spPr>
          <a:xfrm>
            <a:off x="6156960" y="1417320"/>
            <a:ext cx="2438400" cy="155448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5560" y="1645920"/>
            <a:ext cx="198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3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h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85560" y="2423160"/>
            <a:ext cx="198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4CC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SEMANA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163568"/>
            <a:ext cx="8046720" cy="0"/>
          </a:xfrm>
          <a:prstGeom prst="line">
            <a:avLst/>
          </a:prstGeom>
          <a:noFill/>
          <a:ln w="9525">
            <a:solidFill>
              <a:srgbClr val="1F2A22"/>
            </a:solidFill>
            <a:prstDash val="solid"/>
          </a:ln>
        </p:spPr>
      </p:sp>
      <p:sp>
        <p:nvSpPr>
          <p:cNvPr id="14" name="Nota"/>
          <p:cNvSpPr txBox="1"/>
          <p:nvPr/>
        </p:nvSpPr>
        <p:spPr>
          <a:xfrm>
            <a:off x="548640" y="4236720"/>
            <a:ext cx="80467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optativo regulado por la </a:t>
            </a:r>
            <a:r>
              <a:rPr lang="en-US" sz="1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3536/2025</a:t>
            </a: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Comunidad de Madrid.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PARA QUÉ SIRVE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OBJETIVOS DEL MÓDULO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8046720" cy="245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instalaciones de sonido en interiores y exteriores.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y planificar montajes: esquemas, croquis y presupuestos.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y conectar equipos de sonido en directo de forma segura.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Ajustar, verificar y poner en marcha sistemas de PA y monitores.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y reparar averías con diagnóstico técnico.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prevención de riesgos y protección ambiental.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lo aprendido en otros módulos: captación, mezcla, montaje…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QUÉ SABRÁS HACER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COMPETENCIAS PROFESIONALES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3840480" cy="249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y elegir el equipo adecuado para cada evento.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Montar, conectar y desmontar sistemas con protocolos de calidad.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Garantizar un sonido óptimo en directo.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incidencias técnicas durante la sonorización.</a:t>
            </a:r>
            <a:endParaRPr lang="en-US" sz="1600" dirty="0"/>
          </a:p>
        </p:txBody>
      </p:sp>
      <p:sp>
        <p:nvSpPr>
          <p:cNvPr id="5" name="Lista"/>
          <p:cNvSpPr txBox="1"/>
          <p:nvPr/>
        </p:nvSpPr>
        <p:spPr>
          <a:xfrm>
            <a:off x="4754880" y="1417320"/>
            <a:ext cx="3840480" cy="249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en equipo con técnicos y artistas.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 con criterios técnicos, organizativos y económicos.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hábitos de orden, seguridad y responsabilidad.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EVALUACIÓN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RESULTADOS DE APRENDIZAJE</a:t>
            </a:r>
            <a:endParaRPr lang="en-US" sz="2600" dirty="0"/>
          </a:p>
        </p:txBody>
      </p:sp>
      <p:graphicFrame>
        <p:nvGraphicFramePr>
          <p:cNvPr id="7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85216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00" kern="0" dirty="0">
                          <a:solidFill>
                            <a:srgbClr val="3EC5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E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00" kern="0" dirty="0">
                          <a:solidFill>
                            <a:srgbClr val="3EC5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QUÉ DEMUESTRAS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E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00" kern="0" dirty="0">
                          <a:solidFill>
                            <a:srgbClr val="3EC5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PESO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E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RA1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Reconoces los elementos y equipos de una instalación, en locales y al aire libre.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10 %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RA2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Configuras pequeñas instalaciones eligiendo equipos según el tipo de evento.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15 %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RA3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Replanteas instalaciones interpretando especificaciones y haciendo esquemas.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10 %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RA4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Montas canalizaciones y cableado interpretando planos y esquemas.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15 %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EVALUACIÓN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RESULTADOS DE APRENDIZAJE</a:t>
            </a:r>
            <a:endParaRPr lang="en-US" sz="2600" dirty="0"/>
          </a:p>
        </p:txBody>
      </p:sp>
      <p:graphicFrame>
        <p:nvGraphicFramePr>
          <p:cNvPr id="8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85216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00" kern="0" dirty="0">
                          <a:solidFill>
                            <a:srgbClr val="3EC5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E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00" kern="0" dirty="0">
                          <a:solidFill>
                            <a:srgbClr val="3EC5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QUÉ DEMUESTRAS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E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00" kern="0" dirty="0">
                          <a:solidFill>
                            <a:srgbClr val="3EC5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PESO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E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RA5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Instalas equipos de sonorización siguiendo su documentación técnica.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20 %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RA6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Reparas averías relacionando cada disfunción con su causa.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15 %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RA7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Cumples las normas de prevención de riesgos y de protección ambiental.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15 %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LO IMPRESCINDIBLE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MÍNIMOS PARA APROBAR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804672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los equipos básicos de sonido.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y conectar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una instalación sencilla sin errores graves.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sistema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entra señal, sale sonido, sin fallos críticos.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y corregir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averías simples.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una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mínima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orden y cuidado del material.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ASISTENCIA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PÉRDIDA DE LA EVALUACIÓN CONTINUA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8046720" cy="766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Superar el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 de faltas injustificadas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total del ciclo.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Faltar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días seguidos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justificar.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CÓMO SE EVALÚA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INSTRUMENTOS DE EVALUACIÓN</a:t>
            </a:r>
            <a:endParaRPr lang="en-US" sz="2600" dirty="0"/>
          </a:p>
        </p:txBody>
      </p:sp>
      <p:graphicFrame>
        <p:nvGraphicFramePr>
          <p:cNvPr id="11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00" kern="0" dirty="0">
                          <a:solidFill>
                            <a:srgbClr val="3EC5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INSTRUMENTO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E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00" kern="0" dirty="0">
                          <a:solidFill>
                            <a:srgbClr val="3EC5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CONDICIÓN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EC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Exámenes teórico-prácticos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 5/10. Una nota inferior a 5 no se redondea.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Prácticas y ejercicios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Montajes y ejercicios de clase. Mínimo 5/10 en cada uno. Fuera de plazo = 0.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Trabajos individuales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se califican si cumplen forma, fecha y medio de entrega.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Trabajos en grupo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evalúa el resultado y el trabajo en equipo.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Actitud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Puntualidad, participación, interés, respeto y responsabilidad.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Actividades complementarias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4CC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Asistencia obligatoria.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NOTA FINAL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CRITERIOS DE CALIFICACIÓN</a:t>
            </a:r>
            <a:endParaRPr lang="en-US" sz="2600" dirty="0"/>
          </a:p>
        </p:txBody>
      </p:sp>
      <p:sp>
        <p:nvSpPr>
          <p:cNvPr id="4" name="Dato"/>
          <p:cNvSpPr/>
          <p:nvPr/>
        </p:nvSpPr>
        <p:spPr>
          <a:xfrm>
            <a:off x="548640" y="1417320"/>
            <a:ext cx="2438400" cy="155448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198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3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198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4CC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EXÁMENES</a:t>
            </a:r>
            <a:endParaRPr lang="en-US" sz="1100" dirty="0"/>
          </a:p>
        </p:txBody>
      </p:sp>
      <p:sp>
        <p:nvSpPr>
          <p:cNvPr id="7" name="Dato"/>
          <p:cNvSpPr/>
          <p:nvPr/>
        </p:nvSpPr>
        <p:spPr>
          <a:xfrm>
            <a:off x="3352800" y="1417320"/>
            <a:ext cx="2438400" cy="155448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1400" y="1645920"/>
            <a:ext cx="198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3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81400" y="2423160"/>
            <a:ext cx="198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4CC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TRABAJOS PRÁCTICOS</a:t>
            </a:r>
            <a:endParaRPr lang="en-US" sz="1100" dirty="0"/>
          </a:p>
        </p:txBody>
      </p:sp>
      <p:sp>
        <p:nvSpPr>
          <p:cNvPr id="10" name="Dato"/>
          <p:cNvSpPr/>
          <p:nvPr/>
        </p:nvSpPr>
        <p:spPr>
          <a:xfrm>
            <a:off x="6156960" y="1417320"/>
            <a:ext cx="2438400" cy="155448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5560" y="1645920"/>
            <a:ext cx="198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3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85560" y="2423160"/>
            <a:ext cx="198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4CC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ACTITUD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65448"/>
            <a:ext cx="8046720" cy="0"/>
          </a:xfrm>
          <a:prstGeom prst="line">
            <a:avLst/>
          </a:prstGeom>
          <a:noFill/>
          <a:ln w="9525">
            <a:solidFill>
              <a:srgbClr val="1F2A22"/>
            </a:solidFill>
            <a:prstDash val="solid"/>
          </a:ln>
        </p:spPr>
      </p:sp>
      <p:sp>
        <p:nvSpPr>
          <p:cNvPr id="14" name="Nota"/>
          <p:cNvSpPr txBox="1"/>
          <p:nvPr/>
        </p:nvSpPr>
        <p:spPr>
          <a:xfrm>
            <a:off x="548640" y="4038600"/>
            <a:ext cx="8046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trabajo tiene su propio peso, que se indicará. Necesitas </a:t>
            </a:r>
            <a:r>
              <a:rPr lang="en-US" sz="12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un 5 en cada trabajo</a:t>
            </a:r>
            <a:r>
              <a:rPr lang="en-US" sz="1200" dirty="0">
                <a:solidFill>
                  <a:srgbClr val="8A9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hacer media.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SI SUSPENDES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RECUPERACIÓN</a:t>
            </a:r>
            <a:endParaRPr lang="en-US" sz="2600" dirty="0"/>
          </a:p>
        </p:txBody>
      </p:sp>
      <p:sp>
        <p:nvSpPr>
          <p:cNvPr id="4" name="Bloque"/>
          <p:cNvSpPr/>
          <p:nvPr/>
        </p:nvSpPr>
        <p:spPr>
          <a:xfrm>
            <a:off x="548640" y="1417320"/>
            <a:ext cx="3886200" cy="310896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EVALUACIÓN ORDINARIA</a:t>
            </a:r>
            <a:endParaRPr lang="en-US" sz="1100" dirty="0"/>
          </a:p>
        </p:txBody>
      </p:sp>
      <p:sp>
        <p:nvSpPr>
          <p:cNvPr id="6" name="Lista"/>
          <p:cNvSpPr txBox="1"/>
          <p:nvPr/>
        </p:nvSpPr>
        <p:spPr>
          <a:xfrm>
            <a:off x="777240" y="1965960"/>
            <a:ext cx="3429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teórico-práctico completo.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todas las prácticas.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5 en cada parte.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parte no llega a 5, la nota máxima es 4.</a:t>
            </a:r>
            <a:endParaRPr lang="en-US" sz="1500" dirty="0"/>
          </a:p>
        </p:txBody>
      </p:sp>
      <p:sp>
        <p:nvSpPr>
          <p:cNvPr id="7" name="Bloque"/>
          <p:cNvSpPr/>
          <p:nvPr/>
        </p:nvSpPr>
        <p:spPr>
          <a:xfrm>
            <a:off x="4709160" y="1417320"/>
            <a:ext cx="3886200" cy="3108960"/>
          </a:xfrm>
          <a:prstGeom prst="rect">
            <a:avLst/>
          </a:prstGeom>
          <a:solidFill>
            <a:srgbClr val="0F1311"/>
          </a:solidFill>
          <a:ln w="9525">
            <a:solidFill>
              <a:srgbClr val="1F2A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600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EVALUACIÓN EXTRAORDINARIA (JUNIO)</a:t>
            </a:r>
            <a:endParaRPr lang="en-US" sz="1100" dirty="0"/>
          </a:p>
        </p:txBody>
      </p:sp>
      <p:sp>
        <p:nvSpPr>
          <p:cNvPr id="9" name="Lista"/>
          <p:cNvSpPr txBox="1"/>
          <p:nvPr/>
        </p:nvSpPr>
        <p:spPr>
          <a:xfrm>
            <a:off x="4937760" y="1965960"/>
            <a:ext cx="3429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final con todos los contenidos.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 pendientes en una nueva fecha.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5/10 en teoría y en práctica.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5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4,9 no se redondea.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EC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RESUMEN</a:t>
            </a:r>
            <a:endParaRPr lang="en-US" sz="11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APROBAR NECESITAS</a:t>
            </a:r>
            <a:endParaRPr lang="en-US" sz="2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417320"/>
            <a:ext cx="804672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 exámenes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 trabajos y prácticas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trabajos en fecha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Cumplir la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Actitud adecuada: respeto, puntualidad y participación.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Superar </a:t>
            </a:r>
            <a:r>
              <a:rPr lang="en-US" sz="16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RA</a:t>
            </a:r>
            <a:r>
              <a:rPr lang="en-US" sz="1600" dirty="0">
                <a:solidFill>
                  <a:srgbClr val="C4C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320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8D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nsola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ISDE · Guía del módulo</dc:title>
  <dc:subject>PptxGenJS Presentation</dc:subject>
  <dc:creator>Andrés Vidal Martín Martín</dc:creator>
  <cp:lastModifiedBy>Andrés Vidal Martín Martín</cp:lastModifiedBy>
  <cp:revision>1</cp:revision>
  <dcterms:created xsi:type="dcterms:W3CDTF">2026-10-24T02:04:21Z</dcterms:created>
  <dcterms:modified xsi:type="dcterms:W3CDTF">2026-10-24T02:04:21Z</dcterms:modified>
</cp:coreProperties>
</file>